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60A5FA"/>
          </a:solidFill>
          <a:ln>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772400" cy="1005840"/>
          </a:xfrm>
          <a:prstGeom prst="rect">
            <a:avLst/>
          </a:prstGeom>
          <a:noFill/>
        </p:spPr>
        <p:txBody>
          <a:bodyPr wrap="square">
            <a:spAutoFit/>
          </a:bodyPr>
          <a:lstStyle/>
          <a:p>
            <a:pPr>
              <a:defRPr b="1" sz="1900">
                <a:solidFill>
                  <a:srgbClr val="60A5FA"/>
                </a:solidFill>
              </a:defRPr>
            </a:pPr>
            <a:r>
              <a:t>AI-POWERED SURFACE DEFECT DETECTION — JINDAL STAINLESS</a:t>
            </a:r>
          </a:p>
          <a:p>
            <a:pPr>
              <a:defRPr sz="1050">
                <a:solidFill>
                  <a:srgbClr val="94A3B8"/>
                </a:solidFill>
              </a:defRPr>
            </a:pPr>
            <a:r>
              <a:t>Smart Manufacturing &amp; Quality Assurance | Slide 1: Business Context &amp; High-Accuracy Architecture</a:t>
            </a:r>
          </a:p>
        </p:txBody>
      </p:sp>
      <p:sp>
        <p:nvSpPr>
          <p:cNvPr id="5" name="Rounded Rectangle 4"/>
          <p:cNvSpPr/>
          <p:nvPr/>
        </p:nvSpPr>
        <p:spPr>
          <a:xfrm>
            <a:off x="8595360" y="292608"/>
            <a:ext cx="3017520" cy="91440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r">
              <a:defRPr b="1" sz="1300">
                <a:solidFill>
                  <a:srgbClr val="34D399"/>
                </a:solidFill>
              </a:defRPr>
            </a:pPr>
            <a:r>
              <a:t>Team: GenCoders</a:t>
            </a:r>
          </a:p>
          <a:p>
            <a:pPr algn="r">
              <a:defRPr sz="1000">
                <a:solidFill>
                  <a:srgbClr val="F8FAFC"/>
                </a:solidFill>
              </a:defRPr>
            </a:pPr>
            <a:r>
              <a:t>Lipi Bagarti &amp; Kartik Ranjan Singh</a:t>
            </a:r>
          </a:p>
        </p:txBody>
      </p:sp>
      <p:sp>
        <p:nvSpPr>
          <p:cNvPr id="6" name="Rounded Rectangle 5"/>
          <p:cNvSpPr/>
          <p:nvPr/>
        </p:nvSpPr>
        <p:spPr>
          <a:xfrm>
            <a:off x="548640" y="1417320"/>
            <a:ext cx="5486400" cy="49377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250">
                <a:solidFill>
                  <a:srgbClr val="FBBF24"/>
                </a:solidFill>
              </a:defRPr>
            </a:pPr>
            <a:r>
              <a:t>1. Business Context &amp; Strategic Imperative</a:t>
            </a:r>
          </a:p>
          <a:p>
            <a:pPr>
              <a:spcBef>
                <a:spcPts val="300"/>
              </a:spcBef>
            </a:pPr>
            <a:r>
              <a:rPr sz="919">
                <a:solidFill>
                  <a:srgbClr val="94A3B8"/>
                </a:solidFill>
              </a:rPr>
              <a:t>Surface quality is the paramount metric in stainless steel manufacturing. Intelligent CV inspection directly advances Jindal Stainless's digital transformation by cutting scrap, reducing operational losses, and boosting customer trust in high-end austenitic/ferritic grades.</a:t>
            </a:r>
          </a:p>
          <a:p>
            <a:pPr>
              <a:spcBef>
                <a:spcPts val="1000"/>
              </a:spcBef>
              <a:defRPr b="1" sz="1250">
                <a:solidFill>
                  <a:srgbClr val="38BDF8"/>
                </a:solidFill>
              </a:defRPr>
            </a:pPr>
            <a:r>
              <a:t>2. Background: Manufacturing Bottleneck</a:t>
            </a:r>
          </a:p>
          <a:p>
            <a:pPr>
              <a:spcBef>
                <a:spcPts val="300"/>
              </a:spcBef>
            </a:pPr>
            <a:r>
              <a:rPr b="1" sz="919">
                <a:solidFill>
                  <a:srgbClr val="F8FAFC"/>
                </a:solidFill>
              </a:rPr>
              <a:t>• Late Defect Detection:</a:t>
            </a:r>
            <a:r>
              <a:rPr sz="919">
                <a:solidFill>
                  <a:srgbClr val="94A3B8"/>
                </a:solidFill>
              </a:rPr>
              <a:t> Scratches, scale, roll marks &amp; edge cracks detected late cause yield loss, costly rework &amp; customer rejections.</a:t>
            </a:r>
          </a:p>
          <a:p>
            <a:pPr>
              <a:spcBef>
                <a:spcPts val="300"/>
              </a:spcBef>
            </a:pPr>
            <a:r>
              <a:rPr b="1" sz="919">
                <a:solidFill>
                  <a:srgbClr val="F8FAFC"/>
                </a:solidFill>
              </a:rPr>
              <a:t>• Manual Inspection Limits:</a:t>
            </a:r>
            <a:r>
              <a:rPr sz="919">
                <a:solidFill>
                  <a:srgbClr val="94A3B8"/>
                </a:solidFill>
              </a:rPr>
              <a:t> Human visual checks are slow, subjective, and physically impossible to sustain at 15–20 m/s line speeds.</a:t>
            </a:r>
          </a:p>
          <a:p>
            <a:pPr>
              <a:spcBef>
                <a:spcPts val="1000"/>
              </a:spcBef>
              <a:defRPr b="1" sz="1250">
                <a:solidFill>
                  <a:srgbClr val="34D399"/>
                </a:solidFill>
              </a:defRPr>
            </a:pPr>
            <a:r>
              <a:t>3. GenCoders High-Accuracy Two-Tier Ensemble</a:t>
            </a:r>
          </a:p>
          <a:p>
            <a:pPr>
              <a:spcBef>
                <a:spcPts val="300"/>
              </a:spcBef>
            </a:pPr>
            <a:r>
              <a:rPr b="1" sz="919">
                <a:solidFill>
                  <a:srgbClr val="F8FAFC"/>
                </a:solidFill>
              </a:rPr>
              <a:t>• Tier 1 Multi-Model Detectors:</a:t>
            </a:r>
            <a:r>
              <a:rPr sz="919">
                <a:solidFill>
                  <a:srgbClr val="94A3B8"/>
                </a:solidFill>
              </a:rPr>
              <a:t> YOLOv8s (Speed) + Faster R-CNN ResNet50 (Anchor Precision) + RT-DETR (Global Vision Transformer).</a:t>
            </a:r>
          </a:p>
          <a:p>
            <a:pPr>
              <a:spcBef>
                <a:spcPts val="300"/>
              </a:spcBef>
            </a:pPr>
            <a:r>
              <a:rPr b="1" sz="919">
                <a:solidFill>
                  <a:srgbClr val="F8FAFC"/>
                </a:solidFill>
              </a:rPr>
              <a:t>• Weighted Boxes Fusion (WBF):</a:t>
            </a:r>
            <a:r>
              <a:rPr sz="919">
                <a:solidFill>
                  <a:srgbClr val="94A3B8"/>
                </a:solidFill>
              </a:rPr>
              <a:t> Replaces simple NMS with consensus spatial fusion &amp; Multi-Model Agreement scoring (1, 2, or 3 models).</a:t>
            </a:r>
          </a:p>
          <a:p>
            <a:pPr>
              <a:spcBef>
                <a:spcPts val="300"/>
              </a:spcBef>
            </a:pPr>
            <a:r>
              <a:rPr b="1" sz="919">
                <a:solidFill>
                  <a:srgbClr val="F8FAFC"/>
                </a:solidFill>
              </a:rPr>
              <a:t>• Tier 2 Fine Texture Verifier:</a:t>
            </a:r>
            <a:r>
              <a:rPr sz="919">
                <a:solidFill>
                  <a:srgbClr val="94A3B8"/>
                </a:solidFill>
              </a:rPr>
              <a:t> EfficientNet-B0 trained on 3,332 ground-truth crops to eliminate glare &amp; surface oil false alarms.</a:t>
            </a:r>
          </a:p>
          <a:p>
            <a:pPr>
              <a:spcBef>
                <a:spcPts val="300"/>
              </a:spcBef>
            </a:pPr>
            <a:r>
              <a:rPr b="1" sz="919">
                <a:solidFill>
                  <a:srgbClr val="F8FAFC"/>
                </a:solidFill>
              </a:rPr>
              <a:t>• Dual-Confidence Fusion:</a:t>
            </a:r>
            <a:r>
              <a:rPr sz="919">
                <a:solidFill>
                  <a:srgbClr val="94A3B8"/>
                </a:solidFill>
              </a:rPr>
              <a:t> Final Conf = 0.60 * Detector_Conf + 0.40 * Classifier_Conf.</a:t>
            </a:r>
          </a:p>
        </p:txBody>
      </p:sp>
      <p:sp>
        <p:nvSpPr>
          <p:cNvPr id="7" name="Rounded Rectangle 6"/>
          <p:cNvSpPr/>
          <p:nvPr/>
        </p:nvSpPr>
        <p:spPr>
          <a:xfrm>
            <a:off x="6217920" y="1417320"/>
            <a:ext cx="5394960" cy="49377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250">
                <a:solidFill>
                  <a:srgbClr val="38BDF8"/>
                </a:solidFill>
              </a:defRPr>
            </a:pPr>
            <a:r>
              <a:t>4. Direct Fulfillment of 5 Key Considerations</a:t>
            </a:r>
          </a:p>
        </p:txBody>
      </p:sp>
      <p:graphicFrame>
        <p:nvGraphicFramePr>
          <p:cNvPr id="8" name="Table 7"/>
          <p:cNvGraphicFramePr>
            <a:graphicFrameLocks noGrp="1"/>
          </p:cNvGraphicFramePr>
          <p:nvPr/>
        </p:nvGraphicFramePr>
        <p:xfrm>
          <a:off x="6446520" y="1920240"/>
          <a:ext cx="4937760" cy="2468880"/>
        </p:xfrm>
        <a:graphic>
          <a:graphicData uri="http://schemas.openxmlformats.org/drawingml/2006/table">
            <a:tbl>
              <a:tblPr firstRow="1" bandRow="1">
                <a:tableStyleId>{5C22544A-7EE6-4342-B048-85BDC9FD1C3A}</a:tableStyleId>
              </a:tblPr>
              <a:tblGrid>
                <a:gridCol w="1645920"/>
                <a:gridCol w="1371600"/>
                <a:gridCol w="1920240"/>
              </a:tblGrid>
              <a:tr h="411480">
                <a:tc>
                  <a:txBody>
                    <a:bodyPr/>
                    <a:lstStyle/>
                    <a:p>
                      <a:pPr>
                        <a:defRPr b="1" sz="900">
                          <a:solidFill>
                            <a:srgbClr val="38BDF8"/>
                          </a:solidFill>
                        </a:defRPr>
                      </a:pPr>
                      <a:r>
                        <a:t>Key Consideration</a:t>
                      </a:r>
                    </a:p>
                  </a:txBody>
                  <a:tcPr>
                    <a:solidFill>
                      <a:srgbClr val="1E293B"/>
                    </a:solidFill>
                  </a:tcPr>
                </a:tc>
                <a:tc>
                  <a:txBody>
                    <a:bodyPr/>
                    <a:lstStyle/>
                    <a:p>
                      <a:pPr>
                        <a:defRPr b="1" sz="900">
                          <a:solidFill>
                            <a:srgbClr val="38BDF8"/>
                          </a:solidFill>
                        </a:defRPr>
                      </a:pPr>
                      <a:r>
                        <a:t>Required Spec</a:t>
                      </a:r>
                    </a:p>
                  </a:txBody>
                  <a:tcPr>
                    <a:solidFill>
                      <a:srgbClr val="1E293B"/>
                    </a:solidFill>
                  </a:tcPr>
                </a:tc>
                <a:tc>
                  <a:txBody>
                    <a:bodyPr/>
                    <a:lstStyle/>
                    <a:p>
                      <a:pPr>
                        <a:defRPr b="1" sz="900">
                          <a:solidFill>
                            <a:srgbClr val="38BDF8"/>
                          </a:solidFill>
                        </a:defRPr>
                      </a:pPr>
                      <a:r>
                        <a:t>GenCoders Implementation</a:t>
                      </a:r>
                    </a:p>
                  </a:txBody>
                  <a:tcPr>
                    <a:solidFill>
                      <a:srgbClr val="1E293B"/>
                    </a:solidFill>
                  </a:tcPr>
                </a:tc>
              </a:tr>
              <a:tr h="411480">
                <a:tc>
                  <a:txBody>
                    <a:bodyPr/>
                    <a:lstStyle/>
                    <a:p>
                      <a:pPr>
                        <a:defRPr sz="850">
                          <a:solidFill>
                            <a:srgbClr val="F8FAFC"/>
                          </a:solidFill>
                        </a:defRPr>
                      </a:pPr>
                      <a:r>
                        <a:t>1. Accuracy &amp; False Alarms</a:t>
                      </a:r>
                    </a:p>
                  </a:txBody>
                  <a:tcPr>
                    <a:solidFill>
                      <a:srgbClr val="0F172A"/>
                    </a:solidFill>
                  </a:tcPr>
                </a:tc>
                <a:tc>
                  <a:txBody>
                    <a:bodyPr/>
                    <a:lstStyle/>
                    <a:p>
                      <a:pPr>
                        <a:defRPr sz="850">
                          <a:solidFill>
                            <a:srgbClr val="F8FAFC"/>
                          </a:solidFill>
                        </a:defRPr>
                      </a:pPr>
                      <a:r>
                        <a:t>High mAP, Min False Stops</a:t>
                      </a:r>
                    </a:p>
                  </a:txBody>
                  <a:tcPr>
                    <a:solidFill>
                      <a:srgbClr val="0F172A"/>
                    </a:solidFill>
                  </a:tcPr>
                </a:tc>
                <a:tc>
                  <a:txBody>
                    <a:bodyPr/>
                    <a:lstStyle/>
                    <a:p>
                      <a:pPr>
                        <a:defRPr sz="850">
                          <a:solidFill>
                            <a:srgbClr val="34D399"/>
                          </a:solidFill>
                        </a:defRPr>
                      </a:pPr>
                      <a:r>
                        <a:t>82.4% mAP50, 68.5% False Alarm Drop</a:t>
                      </a:r>
                    </a:p>
                  </a:txBody>
                  <a:tcPr>
                    <a:solidFill>
                      <a:srgbClr val="0F172A"/>
                    </a:solidFill>
                  </a:tcPr>
                </a:tc>
              </a:tr>
              <a:tr h="411480">
                <a:tc>
                  <a:txBody>
                    <a:bodyPr/>
                    <a:lstStyle/>
                    <a:p>
                      <a:pPr>
                        <a:defRPr sz="850">
                          <a:solidFill>
                            <a:srgbClr val="F8FAFC"/>
                          </a:solidFill>
                        </a:defRPr>
                      </a:pPr>
                      <a:r>
                        <a:t>2. Multiple Defect Types</a:t>
                      </a:r>
                    </a:p>
                  </a:txBody>
                  <a:tcPr>
                    <a:solidFill>
                      <a:srgbClr val="111827"/>
                    </a:solidFill>
                  </a:tcPr>
                </a:tc>
                <a:tc>
                  <a:txBody>
                    <a:bodyPr/>
                    <a:lstStyle/>
                    <a:p>
                      <a:pPr>
                        <a:defRPr sz="850">
                          <a:solidFill>
                            <a:srgbClr val="F8FAFC"/>
                          </a:solidFill>
                        </a:defRPr>
                      </a:pPr>
                      <a:r>
                        <a:t>6+ Stainless Defect Classes</a:t>
                      </a:r>
                    </a:p>
                  </a:txBody>
                  <a:tcPr>
                    <a:solidFill>
                      <a:srgbClr val="111827"/>
                    </a:solidFill>
                  </a:tcPr>
                </a:tc>
                <a:tc>
                  <a:txBody>
                    <a:bodyPr/>
                    <a:lstStyle/>
                    <a:p>
                      <a:pPr>
                        <a:defRPr sz="850">
                          <a:solidFill>
                            <a:srgbClr val="34D399"/>
                          </a:solidFill>
                        </a:defRPr>
                      </a:pPr>
                      <a:r>
                        <a:t>Full coverage: Scratches, Scale, Crazing, etc.</a:t>
                      </a:r>
                    </a:p>
                  </a:txBody>
                  <a:tcPr>
                    <a:solidFill>
                      <a:srgbClr val="111827"/>
                    </a:solidFill>
                  </a:tcPr>
                </a:tc>
              </a:tr>
              <a:tr h="411480">
                <a:tc>
                  <a:txBody>
                    <a:bodyPr/>
                    <a:lstStyle/>
                    <a:p>
                      <a:pPr>
                        <a:defRPr sz="850">
                          <a:solidFill>
                            <a:srgbClr val="F8FAFC"/>
                          </a:solidFill>
                        </a:defRPr>
                      </a:pPr>
                      <a:r>
                        <a:t>3. Real-Time Mill Speed</a:t>
                      </a:r>
                    </a:p>
                  </a:txBody>
                  <a:tcPr>
                    <a:solidFill>
                      <a:srgbClr val="0F172A"/>
                    </a:solidFill>
                  </a:tcPr>
                </a:tc>
                <a:tc>
                  <a:txBody>
                    <a:bodyPr/>
                    <a:lstStyle/>
                    <a:p>
                      <a:pPr>
                        <a:defRPr sz="850">
                          <a:solidFill>
                            <a:srgbClr val="F8FAFC"/>
                          </a:solidFill>
                        </a:defRPr>
                      </a:pPr>
                      <a:r>
                        <a:t>15–20 m/s (&lt;20 ms latency)</a:t>
                      </a:r>
                    </a:p>
                  </a:txBody>
                  <a:tcPr>
                    <a:solidFill>
                      <a:srgbClr val="0F172A"/>
                    </a:solidFill>
                  </a:tcPr>
                </a:tc>
                <a:tc>
                  <a:txBody>
                    <a:bodyPr/>
                    <a:lstStyle/>
                    <a:p>
                      <a:pPr>
                        <a:defRPr sz="850">
                          <a:solidFill>
                            <a:srgbClr val="34D399"/>
                          </a:solidFill>
                        </a:defRPr>
                      </a:pPr>
                      <a:r>
                        <a:t>65+ FPS (15.4 ms) via TensorRT/ONNX</a:t>
                      </a:r>
                    </a:p>
                  </a:txBody>
                  <a:tcPr>
                    <a:solidFill>
                      <a:srgbClr val="0F172A"/>
                    </a:solidFill>
                  </a:tcPr>
                </a:tc>
              </a:tr>
              <a:tr h="411480">
                <a:tc>
                  <a:txBody>
                    <a:bodyPr/>
                    <a:lstStyle/>
                    <a:p>
                      <a:pPr>
                        <a:defRPr sz="850">
                          <a:solidFill>
                            <a:srgbClr val="F8FAFC"/>
                          </a:solidFill>
                        </a:defRPr>
                      </a:pPr>
                      <a:r>
                        <a:t>4. Usable Demo Interface</a:t>
                      </a:r>
                    </a:p>
                  </a:txBody>
                  <a:tcPr>
                    <a:solidFill>
                      <a:srgbClr val="111827"/>
                    </a:solidFill>
                  </a:tcPr>
                </a:tc>
                <a:tc>
                  <a:txBody>
                    <a:bodyPr/>
                    <a:lstStyle/>
                    <a:p>
                      <a:pPr>
                        <a:defRPr sz="850">
                          <a:solidFill>
                            <a:srgbClr val="F8FAFC"/>
                          </a:solidFill>
                        </a:defRPr>
                      </a:pPr>
                      <a:r>
                        <a:t>Image upload + visual flags</a:t>
                      </a:r>
                    </a:p>
                  </a:txBody>
                  <a:tcPr>
                    <a:solidFill>
                      <a:srgbClr val="111827"/>
                    </a:solidFill>
                  </a:tcPr>
                </a:tc>
                <a:tc>
                  <a:txBody>
                    <a:bodyPr/>
                    <a:lstStyle/>
                    <a:p>
                      <a:pPr>
                        <a:defRPr sz="850">
                          <a:solidFill>
                            <a:srgbClr val="34D399"/>
                          </a:solidFill>
                        </a:defRPr>
                      </a:pPr>
                      <a:r>
                        <a:t>Streamlit Dashboard + Bounding Boxes + PLC</a:t>
                      </a:r>
                    </a:p>
                  </a:txBody>
                  <a:tcPr>
                    <a:solidFill>
                      <a:srgbClr val="111827"/>
                    </a:solidFill>
                  </a:tcPr>
                </a:tc>
              </a:tr>
              <a:tr h="411480">
                <a:tc>
                  <a:txBody>
                    <a:bodyPr/>
                    <a:lstStyle/>
                    <a:p>
                      <a:pPr>
                        <a:defRPr sz="850">
                          <a:solidFill>
                            <a:srgbClr val="F8FAFC"/>
                          </a:solidFill>
                        </a:defRPr>
                      </a:pPr>
                      <a:r>
                        <a:t>5. Cross-Grade Scaling</a:t>
                      </a:r>
                    </a:p>
                  </a:txBody>
                  <a:tcPr>
                    <a:solidFill>
                      <a:srgbClr val="0F172A"/>
                    </a:solidFill>
                  </a:tcPr>
                </a:tc>
                <a:tc>
                  <a:txBody>
                    <a:bodyPr/>
                    <a:lstStyle/>
                    <a:p>
                      <a:pPr>
                        <a:defRPr sz="850">
                          <a:solidFill>
                            <a:srgbClr val="F8FAFC"/>
                          </a:solidFill>
                        </a:defRPr>
                      </a:pPr>
                      <a:r>
                        <a:t>200/300/400 Stainless Alloys</a:t>
                      </a:r>
                    </a:p>
                  </a:txBody>
                  <a:tcPr>
                    <a:solidFill>
                      <a:srgbClr val="0F172A"/>
                    </a:solidFill>
                  </a:tcPr>
                </a:tc>
                <a:tc>
                  <a:txBody>
                    <a:bodyPr/>
                    <a:lstStyle/>
                    <a:p>
                      <a:pPr>
                        <a:defRPr sz="850">
                          <a:solidFill>
                            <a:srgbClr val="34D399"/>
                          </a:solidFill>
                        </a:defRPr>
                      </a:pPr>
                      <a:r>
                        <a:t>Active Learning &amp; Domain Adaptation Loop</a:t>
                      </a:r>
                    </a:p>
                  </a:txBody>
                  <a:tcPr>
                    <a:solidFill>
                      <a:srgbClr val="0F172A"/>
                    </a:solidFill>
                  </a:tcPr>
                </a:tc>
              </a:tr>
            </a:tbl>
          </a:graphicData>
        </a:graphic>
      </p:graphicFrame>
      <p:sp>
        <p:nvSpPr>
          <p:cNvPr id="9" name="Rounded Rectangle 8"/>
          <p:cNvSpPr/>
          <p:nvPr/>
        </p:nvSpPr>
        <p:spPr>
          <a:xfrm>
            <a:off x="6446520" y="4572000"/>
            <a:ext cx="4937760" cy="1600200"/>
          </a:xfrm>
          <a:prstGeom prst="roundRect">
            <a:avLst/>
          </a:prstGeom>
          <a:solidFill>
            <a:srgbClr val="0F172A"/>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50">
                <a:solidFill>
                  <a:srgbClr val="60A5FA"/>
                </a:solidFill>
              </a:defRPr>
            </a:pPr>
            <a:r>
              <a:t>⚡ Real-Time Decision Engine &amp; False Alarm Elimination:</a:t>
            </a:r>
          </a:p>
          <a:p>
            <a:pPr>
              <a:spcBef>
                <a:spcPts val="300"/>
              </a:spcBef>
              <a:defRPr sz="850">
                <a:solidFill>
                  <a:srgbClr val="F8FAFC"/>
                </a:solidFill>
              </a:defRPr>
            </a:pPr>
            <a:r>
              <a:t>• 5-Stage Gate: Confidence Gate ➔ Defect Area Filter ➔ Strip ROI ➔ Multi-Frame Tracker ➔ Severity Matrix.</a:t>
            </a:r>
            <a:br/>
            <a:r>
              <a:t>• Dual Verification: Every candidate bounding box is independently cross-verified by EfficientNet-B0 texture verifier before triggering plant 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772400" cy="1005840"/>
          </a:xfrm>
          <a:prstGeom prst="rect">
            <a:avLst/>
          </a:prstGeom>
          <a:noFill/>
        </p:spPr>
        <p:txBody>
          <a:bodyPr wrap="square">
            <a:spAutoFit/>
          </a:bodyPr>
          <a:lstStyle/>
          <a:p>
            <a:pPr>
              <a:defRPr b="1" sz="1900">
                <a:solidFill>
                  <a:srgbClr val="34D399"/>
                </a:solidFill>
              </a:defRPr>
            </a:pPr>
            <a:r>
              <a:t>INDUSTRIAL DEPLOYMENT, PLC INTEGRATION &amp; JINDAL ROADMAP</a:t>
            </a:r>
          </a:p>
          <a:p>
            <a:pPr>
              <a:defRPr sz="1050">
                <a:solidFill>
                  <a:srgbClr val="94A3B8"/>
                </a:solidFill>
              </a:defRPr>
            </a:pPr>
            <a:r>
              <a:t>Slide 2: Action Item Deliverables, PLC/SCADA Automation, Financial ROI &amp; Factory Scaling</a:t>
            </a:r>
          </a:p>
        </p:txBody>
      </p:sp>
      <p:sp>
        <p:nvSpPr>
          <p:cNvPr id="5" name="Rounded Rectangle 4"/>
          <p:cNvSpPr/>
          <p:nvPr/>
        </p:nvSpPr>
        <p:spPr>
          <a:xfrm>
            <a:off x="8595360" y="292608"/>
            <a:ext cx="3017520" cy="91440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r">
              <a:defRPr b="1" sz="1300">
                <a:solidFill>
                  <a:srgbClr val="34D399"/>
                </a:solidFill>
              </a:defRPr>
            </a:pPr>
            <a:r>
              <a:t>Team: GenCoders</a:t>
            </a:r>
          </a:p>
          <a:p>
            <a:pPr algn="r">
              <a:defRPr sz="1000">
                <a:solidFill>
                  <a:srgbClr val="F8FAFC"/>
                </a:solidFill>
              </a:defRPr>
            </a:pPr>
            <a:r>
              <a:t>Lipi Bagarti &amp; Kartik Ranjan Singh</a:t>
            </a:r>
          </a:p>
        </p:txBody>
      </p:sp>
      <p:sp>
        <p:nvSpPr>
          <p:cNvPr id="6" name="Rounded Rectangle 5"/>
          <p:cNvSpPr/>
          <p:nvPr/>
        </p:nvSpPr>
        <p:spPr>
          <a:xfrm>
            <a:off x="548640" y="1417320"/>
            <a:ext cx="5486400" cy="49377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250">
                <a:solidFill>
                  <a:srgbClr val="FBBF24"/>
                </a:solidFill>
              </a:defRPr>
            </a:pPr>
            <a:r>
              <a:t>1. PLC / OPC-UA Automation &amp; Closed-Loop Actuation</a:t>
            </a:r>
          </a:p>
          <a:p>
            <a:pPr>
              <a:spcBef>
                <a:spcPts val="300"/>
              </a:spcBef>
            </a:pPr>
            <a:r>
              <a:rPr b="1" sz="900">
                <a:solidFill>
                  <a:srgbClr val="F8FAFC"/>
                </a:solidFill>
              </a:rPr>
              <a:t>• OPC-UA / Industrial Ethernet:</a:t>
            </a:r>
            <a:r>
              <a:rPr sz="900">
                <a:solidFill>
                  <a:srgbClr val="94A3B8"/>
                </a:solidFill>
              </a:rPr>
              <a:t> Sub-20ms JSON telemetry sent directly to Siemens S7-1500 / Rockwell PLCs.</a:t>
            </a:r>
          </a:p>
          <a:p>
            <a:pPr>
              <a:spcBef>
                <a:spcPts val="300"/>
              </a:spcBef>
            </a:pPr>
            <a:r>
              <a:rPr b="1" sz="900">
                <a:solidFill>
                  <a:srgbClr val="F8FAFC"/>
                </a:solidFill>
              </a:rPr>
              <a:t>• Closed-Loop Actuation Rules:</a:t>
            </a:r>
            <a:r>
              <a:rPr sz="900">
                <a:solidFill>
                  <a:srgbClr val="94A3B8"/>
                </a:solidFill>
              </a:rPr>
              <a:t> Structured severity-driven actions:</a:t>
            </a:r>
          </a:p>
          <a:p>
            <a:pPr>
              <a:spcBef>
                <a:spcPts val="300"/>
              </a:spcBef>
            </a:pPr>
            <a:r>
              <a:rPr b="1" sz="900">
                <a:solidFill>
                  <a:srgbClr val="F8FAFC"/>
                </a:solidFill>
              </a:rPr>
              <a:t>•   • Low Severity:</a:t>
            </a:r>
            <a:r>
              <a:rPr sz="900">
                <a:solidFill>
                  <a:srgbClr val="94A3B8"/>
                </a:solidFill>
              </a:rPr>
              <a:t> Logged silently in SQL database for coil surface quality heatmaps.</a:t>
            </a:r>
          </a:p>
          <a:p>
            <a:pPr>
              <a:spcBef>
                <a:spcPts val="300"/>
              </a:spcBef>
            </a:pPr>
            <a:r>
              <a:rPr b="1" sz="900">
                <a:solidFill>
                  <a:srgbClr val="F8FAFC"/>
                </a:solidFill>
              </a:rPr>
              <a:t>•   • Medium Severity:</a:t>
            </a:r>
            <a:r>
              <a:rPr sz="900">
                <a:solidFill>
                  <a:srgbClr val="94A3B8"/>
                </a:solidFill>
              </a:rPr>
              <a:t> Triggers audio-visual warning on operator Streamlit/SCADA HMI.</a:t>
            </a:r>
          </a:p>
          <a:p>
            <a:pPr>
              <a:spcBef>
                <a:spcPts val="300"/>
              </a:spcBef>
            </a:pPr>
            <a:r>
              <a:rPr b="1" sz="900">
                <a:solidFill>
                  <a:srgbClr val="F8FAFC"/>
                </a:solidFill>
              </a:rPr>
              <a:t>•   • High / Critical Severity:</a:t>
            </a:r>
            <a:r>
              <a:rPr sz="900">
                <a:solidFill>
                  <a:srgbClr val="94A3B8"/>
                </a:solidFill>
              </a:rPr>
              <a:t> Activates spray paint defect marker &amp; mill deceleration trigger.</a:t>
            </a:r>
          </a:p>
          <a:p>
            <a:pPr>
              <a:spcBef>
                <a:spcPts val="300"/>
              </a:spcBef>
            </a:pPr>
            <a:r>
              <a:rPr b="1" sz="900">
                <a:solidFill>
                  <a:srgbClr val="F8FAFC"/>
                </a:solidFill>
              </a:rPr>
              <a:t>• Edge Compute Hardware Rig:</a:t>
            </a:r>
            <a:r>
              <a:rPr sz="900">
                <a:solidFill>
                  <a:srgbClr val="94A3B8"/>
                </a:solidFill>
              </a:rPr>
              <a:t> Dual Line-Scan Cameras + High-Freq LED Strobes + NVIDIA Jetson AGX Orin / RTX 4000 GPU.</a:t>
            </a:r>
          </a:p>
          <a:p>
            <a:pPr>
              <a:spcBef>
                <a:spcPts val="1000"/>
              </a:spcBef>
              <a:defRPr b="1" sz="1250">
                <a:solidFill>
                  <a:srgbClr val="38BDF8"/>
                </a:solidFill>
              </a:defRPr>
            </a:pPr>
            <a:r>
              <a:t>2. Path to Scaling Across Stainless Grades &amp; Products</a:t>
            </a:r>
          </a:p>
          <a:p>
            <a:pPr>
              <a:spcBef>
                <a:spcPts val="300"/>
              </a:spcBef>
            </a:pPr>
            <a:r>
              <a:rPr b="1" sz="900">
                <a:solidFill>
                  <a:srgbClr val="F8FAFC"/>
                </a:solidFill>
              </a:rPr>
              <a:t>• Active Learning Loop:</a:t>
            </a:r>
            <a:r>
              <a:rPr sz="900">
                <a:solidFill>
                  <a:srgbClr val="94A3B8"/>
                </a:solidFill>
              </a:rPr>
              <a:t> Borderline predictions (conf 0.40–0.60) flagged for metallurgical review and continuous retraining.</a:t>
            </a:r>
          </a:p>
          <a:p>
            <a:pPr>
              <a:spcBef>
                <a:spcPts val="300"/>
              </a:spcBef>
            </a:pPr>
            <a:r>
              <a:rPr b="1" sz="900">
                <a:solidFill>
                  <a:srgbClr val="F8FAFC"/>
                </a:solidFill>
              </a:rPr>
              <a:t>• Domain Transfer Pipeline:</a:t>
            </a:r>
            <a:r>
              <a:rPr sz="900">
                <a:solidFill>
                  <a:srgbClr val="94A3B8"/>
                </a:solidFill>
              </a:rPr>
              <a:t> Pre-configured transfer learning from NEU-DET to Jindal 200/300/400 austenitic, ferritic &amp; duplex stainless grades.</a:t>
            </a:r>
          </a:p>
        </p:txBody>
      </p:sp>
      <p:sp>
        <p:nvSpPr>
          <p:cNvPr id="7" name="Rounded Rectangle 6"/>
          <p:cNvSpPr/>
          <p:nvPr/>
        </p:nvSpPr>
        <p:spPr>
          <a:xfrm>
            <a:off x="6217920" y="1417320"/>
            <a:ext cx="5394960" cy="49377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250">
                <a:solidFill>
                  <a:srgbClr val="34D399"/>
                </a:solidFill>
              </a:defRPr>
            </a:pPr>
            <a:r>
              <a:t>3. Projected Business Impact for Jindal Stainless</a:t>
            </a:r>
          </a:p>
          <a:p>
            <a:pPr>
              <a:spcBef>
                <a:spcPts val="13500"/>
              </a:spcBef>
              <a:defRPr b="1" sz="1250">
                <a:solidFill>
                  <a:srgbClr val="60A5FA"/>
                </a:solidFill>
              </a:defRPr>
            </a:pPr>
            <a:r>
              <a:t>4. Action Plan for Production Deployment</a:t>
            </a:r>
          </a:p>
          <a:p>
            <a:pPr>
              <a:spcBef>
                <a:spcPts val="300"/>
              </a:spcBef>
            </a:pPr>
            <a:r>
              <a:rPr b="1" sz="900">
                <a:solidFill>
                  <a:srgbClr val="F8FAFC"/>
                </a:solidFill>
              </a:rPr>
              <a:t>• Phase 1 (Completed):</a:t>
            </a:r>
            <a:r>
              <a:rPr sz="900">
                <a:solidFill>
                  <a:srgbClr val="94A3B8"/>
                </a:solidFill>
              </a:rPr>
              <a:t> Multi-model ensemble, WBF, crop dataset, decision engine, FastAPI backend, SQLite repository, Streamlit HMI demo.</a:t>
            </a:r>
          </a:p>
          <a:p>
            <a:pPr>
              <a:spcBef>
                <a:spcPts val="300"/>
              </a:spcBef>
            </a:pPr>
            <a:r>
              <a:rPr b="1" sz="900">
                <a:solidFill>
                  <a:srgbClr val="F8FAFC"/>
                </a:solidFill>
              </a:rPr>
              <a:t>• Phase 2 (Next Step):</a:t>
            </a:r>
            <a:r>
              <a:rPr sz="900">
                <a:solidFill>
                  <a:srgbClr val="94A3B8"/>
                </a:solidFill>
              </a:rPr>
              <a:t> Hardware-in-the-loop OPC-UA PLC integration &amp; transfer learning on live Jindal plant coil imagery.</a:t>
            </a:r>
          </a:p>
        </p:txBody>
      </p:sp>
      <p:sp>
        <p:nvSpPr>
          <p:cNvPr id="8" name="Rounded Rectangle 7"/>
          <p:cNvSpPr/>
          <p:nvPr/>
        </p:nvSpPr>
        <p:spPr>
          <a:xfrm>
            <a:off x="6446520" y="1920240"/>
            <a:ext cx="2377440" cy="868680"/>
          </a:xfrm>
          <a:prstGeom prst="roundRect">
            <a:avLst/>
          </a:prstGeom>
          <a:solidFill>
            <a:srgbClr val="0F172A"/>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60A5FA"/>
                </a:solidFill>
              </a:defRPr>
            </a:pPr>
            <a:r>
              <a:t>₹4.2 Cr+</a:t>
            </a:r>
          </a:p>
          <a:p>
            <a:pPr algn="ctr">
              <a:defRPr sz="750">
                <a:solidFill>
                  <a:srgbClr val="F8FAFC"/>
                </a:solidFill>
              </a:defRPr>
            </a:pPr>
            <a:r>
              <a:t>Annual Scrap &amp; Downgrade Savings / Line</a:t>
            </a:r>
          </a:p>
        </p:txBody>
      </p:sp>
      <p:sp>
        <p:nvSpPr>
          <p:cNvPr id="9" name="Rounded Rectangle 8"/>
          <p:cNvSpPr/>
          <p:nvPr/>
        </p:nvSpPr>
        <p:spPr>
          <a:xfrm>
            <a:off x="8961120" y="1920240"/>
            <a:ext cx="2377440" cy="86868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99.2%</a:t>
            </a:r>
          </a:p>
          <a:p>
            <a:pPr algn="ctr">
              <a:defRPr sz="750">
                <a:solidFill>
                  <a:srgbClr val="F8FAFC"/>
                </a:solidFill>
              </a:defRPr>
            </a:pPr>
            <a:r>
              <a:t>Defective Coil Escape Prevention</a:t>
            </a:r>
          </a:p>
        </p:txBody>
      </p:sp>
      <p:sp>
        <p:nvSpPr>
          <p:cNvPr id="10" name="Rounded Rectangle 9"/>
          <p:cNvSpPr/>
          <p:nvPr/>
        </p:nvSpPr>
        <p:spPr>
          <a:xfrm>
            <a:off x="6446520" y="2971800"/>
            <a:ext cx="2377440" cy="868680"/>
          </a:xfrm>
          <a:prstGeom prst="roundRect">
            <a:avLst/>
          </a:prstGeom>
          <a:solidFill>
            <a:srgbClr val="0F17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FBBF24"/>
                </a:solidFill>
              </a:defRPr>
            </a:pPr>
            <a:r>
              <a:t>&lt; 4.5 Mo</a:t>
            </a:r>
          </a:p>
          <a:p>
            <a:pPr algn="ctr">
              <a:defRPr sz="750">
                <a:solidFill>
                  <a:srgbClr val="F8FAFC"/>
                </a:solidFill>
              </a:defRPr>
            </a:pPr>
            <a:r>
              <a:t>Estimated Capital Payback Period</a:t>
            </a:r>
          </a:p>
        </p:txBody>
      </p:sp>
      <p:sp>
        <p:nvSpPr>
          <p:cNvPr id="11" name="Rounded Rectangle 10"/>
          <p:cNvSpPr/>
          <p:nvPr/>
        </p:nvSpPr>
        <p:spPr>
          <a:xfrm>
            <a:off x="8961120" y="2971800"/>
            <a:ext cx="2377440" cy="8686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8BDF8"/>
                </a:solidFill>
              </a:defRPr>
            </a:pPr>
            <a:r>
              <a:t>100%</a:t>
            </a:r>
          </a:p>
          <a:p>
            <a:pPr algn="ctr">
              <a:defRPr sz="750">
                <a:solidFill>
                  <a:srgbClr val="F8FAFC"/>
                </a:solidFill>
              </a:defRPr>
            </a:pPr>
            <a:r>
              <a:t>Coil Traceability &amp; SQL Database Logging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