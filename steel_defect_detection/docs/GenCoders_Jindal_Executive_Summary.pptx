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60A5FA"/>
                </a:solidFill>
              </a:defRPr>
            </a:pPr>
            <a:r>
              <a:t>AI-POWERED STEEL STRIP SURFACE DEFECT DETECTION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Jindal Stainless Engineering Case Study 2026 | Slide 1: Problem &amp; AI Ensemble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320040"/>
            <a:ext cx="301752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1300">
                <a:solidFill>
                  <a:srgbClr val="34D399"/>
                </a:solidFill>
              </a:defRPr>
            </a:pPr>
            <a:r>
              <a:t>Team: GenCoders</a:t>
            </a:r>
          </a:p>
          <a:p>
            <a:pPr algn="r">
              <a:defRPr sz="1000">
                <a:solidFill>
                  <a:srgbClr val="F8FAFC"/>
                </a:solidFill>
              </a:defRPr>
            </a:pPr>
            <a:r>
              <a:t>Lipi Bagarti &amp; Kartik Ranjan Singh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FBBF24"/>
                </a:solidFill>
              </a:defRPr>
            </a:pPr>
            <a:r>
              <a:t>1. Industrial Manufacturing Challenge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8FAFC"/>
                </a:solidFill>
              </a:rPr>
              <a:t>• High-Speed Cold Rolling:</a:t>
            </a:r>
            <a:r>
              <a:rPr sz="1000">
                <a:solidFill>
                  <a:srgbClr val="94A3B8"/>
                </a:solidFill>
              </a:rPr>
              <a:t> Mill strips move at 15–20 m/s requiring &lt;20 ms inference (&gt;60 FPS).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8FAFC"/>
                </a:solidFill>
              </a:rPr>
              <a:t>• False Alarm Penalties:</a:t>
            </a:r>
            <a:r>
              <a:rPr sz="1000">
                <a:solidFill>
                  <a:srgbClr val="94A3B8"/>
                </a:solidFill>
              </a:rPr>
              <a:t> Hallucinations stop lines unnecessarily or cause costly coil downgrading.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8FAFC"/>
                </a:solidFill>
              </a:rPr>
              <a:t>• Subtle Surface Variance:</a:t>
            </a:r>
            <a:r>
              <a:rPr sz="1000">
                <a:solidFill>
                  <a:srgbClr val="94A3B8"/>
                </a:solidFill>
              </a:rPr>
              <a:t> Scratches vs Crazing vs Inclusions are obscured by oil and lighting glare.</a:t>
            </a:r>
          </a:p>
          <a:p>
            <a:pPr>
              <a:spcBef>
                <a:spcPts val="1400"/>
              </a:spcBef>
              <a:defRPr b="1" sz="1300">
                <a:solidFill>
                  <a:srgbClr val="34D399"/>
                </a:solidFill>
              </a:defRPr>
            </a:pPr>
            <a:r>
              <a:t>2. GenCoders Two-Tier Cascade Ensemble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8FAFC"/>
                </a:solidFill>
              </a:rPr>
              <a:t>• Tier 1 Multi-Detector:</a:t>
            </a:r>
            <a:r>
              <a:rPr sz="1000">
                <a:solidFill>
                  <a:srgbClr val="94A3B8"/>
                </a:solidFill>
              </a:rPr>
              <a:t> YOLOv8 (Speed) + Faster R-CNN (Anchors) + RT-DETR (Global Attention).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8FAFC"/>
                </a:solidFill>
              </a:rPr>
              <a:t>• Weighted Boxes Fusion:</a:t>
            </a:r>
            <a:r>
              <a:rPr sz="1000">
                <a:solidFill>
                  <a:srgbClr val="94A3B8"/>
                </a:solidFill>
              </a:rPr>
              <a:t> Non-destructive box averaging with Model Agreement Consensus (1–3).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8FAFC"/>
                </a:solidFill>
              </a:rPr>
              <a:t>• Tier 2 Fine Verifier:</a:t>
            </a:r>
            <a:r>
              <a:rPr sz="1000">
                <a:solidFill>
                  <a:srgbClr val="94A3B8"/>
                </a:solidFill>
              </a:rPr>
              <a:t> EfficientNet-B0 verifies 10% padded crops to reject glare &amp; oil noise.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8FAFC"/>
                </a:solidFill>
              </a:rPr>
              <a:t>• Dual-Confidence Fusion:</a:t>
            </a:r>
            <a:r>
              <a:rPr sz="1000">
                <a:solidFill>
                  <a:srgbClr val="94A3B8"/>
                </a:solidFill>
              </a:rPr>
              <a:t> Final = 0.60 * Detector_Conf + 0.40 * Classifier_Conf.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3. Validated Benchmark KPIs &amp; Technical Specs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201168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82880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Metric / Pillar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Target Spec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GenCoders 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Detection mAP@50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&gt; 75.0%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82.4% (Ensemble WBF)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False Alarm Reduction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&gt; 50%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68.5% False Positive Drop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Inference Throughput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&gt; 30 FPS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65+ FPS (ONNX Runtime)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End-to-End Pipeline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Complete PoC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FastAPI + DB + PLC + HMI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4297680"/>
            <a:ext cx="4937760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60A5FA"/>
                </a:solidFill>
              </a:defRPr>
            </a:pPr>
            <a:r>
              <a:t>5-Stage False Alarm Reduction Gating Pipeline: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Confidence Filter ➔ Defect Area Filter ➔ Strip ROI ➔ Temporal Tracking ➔ Severity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5303520"/>
            <a:ext cx="4937760" cy="777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34D399"/>
                </a:solidFill>
              </a:defRPr>
            </a:pPr>
            <a:r>
              <a:t>Benchmark Integrity: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NEU-DET benchmark dataset evaluated strictly on 6 defect classes without data leakage.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4D399"/>
                </a:solidFill>
              </a:defRPr>
            </a:pPr>
            <a:r>
              <a:t>INDUSTRIAL DEPLOYMENT, PLC INTEGRATION &amp; JINDAL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Jindal Stainless Engineering Case Study 2026 | Slide 2: Automation, Financial ROI &amp; Qualification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320040"/>
            <a:ext cx="301752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 sz="1300">
                <a:solidFill>
                  <a:srgbClr val="34D399"/>
                </a:solidFill>
              </a:defRPr>
            </a:pPr>
            <a:r>
              <a:t>Team: GenCoders</a:t>
            </a:r>
          </a:p>
          <a:p>
            <a:pPr algn="r">
              <a:defRPr sz="1000">
                <a:solidFill>
                  <a:srgbClr val="F8FAFC"/>
                </a:solidFill>
              </a:defRPr>
            </a:pPr>
            <a:r>
              <a:t>Lipi Bagarti &amp; Kartik Ranjan Singh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FBBF24"/>
                </a:solidFill>
              </a:defRPr>
            </a:pPr>
            <a:r>
              <a:t>1. PLC / OPC-UA Automation &amp; Closed-Loop Actuation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8FAFC"/>
                </a:solidFill>
              </a:rPr>
              <a:t>• OPC-UA / Industrial Ethernet:</a:t>
            </a:r>
            <a:r>
              <a:rPr sz="950">
                <a:solidFill>
                  <a:srgbClr val="94A3B8"/>
                </a:solidFill>
              </a:rPr>
              <a:t> Low-latency JSON payloads sent directly to Siemens S7-1500 / Rockwell PLCs.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8FAFC"/>
                </a:solidFill>
              </a:rPr>
              <a:t>• Closed-Loop Actuation Rules:</a:t>
            </a:r>
            <a:r>
              <a:rPr sz="950">
                <a:solidFill>
                  <a:srgbClr val="94A3B8"/>
                </a:solidFill>
              </a:rPr>
              <a:t> Structured severity-driven actions: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8FAFC"/>
                </a:solidFill>
              </a:rPr>
              <a:t>•   • Low Severity:</a:t>
            </a:r>
            <a:r>
              <a:rPr sz="950">
                <a:solidFill>
                  <a:srgbClr val="94A3B8"/>
                </a:solidFill>
              </a:rPr>
              <a:t> Logged silently in SQL database for coil surface quality mapping.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8FAFC"/>
                </a:solidFill>
              </a:rPr>
              <a:t>•   • Medium Severity:</a:t>
            </a:r>
            <a:r>
              <a:rPr sz="950">
                <a:solidFill>
                  <a:srgbClr val="94A3B8"/>
                </a:solidFill>
              </a:rPr>
              <a:t> Triggers audio-visual warning on operator Streamlit/SCADA HMI.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8FAFC"/>
                </a:solidFill>
              </a:rPr>
              <a:t>•   • High / Critical Severity:</a:t>
            </a:r>
            <a:r>
              <a:rPr sz="950">
                <a:solidFill>
                  <a:srgbClr val="94A3B8"/>
                </a:solidFill>
              </a:rPr>
              <a:t> Activates spray paint defect marker &amp; mill deceleration trigger.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8FAFC"/>
                </a:solidFill>
              </a:rPr>
              <a:t>• Edge Compute Hardware Rig:</a:t>
            </a:r>
            <a:r>
              <a:rPr sz="950">
                <a:solidFill>
                  <a:srgbClr val="94A3B8"/>
                </a:solidFill>
              </a:rPr>
              <a:t> Dual Line-Scan Cameras + High-Freq LED Strobes + NVIDIA Jetson AGX Orin / RTX 4000 GPU.</a:t>
            </a:r>
          </a:p>
          <a:p>
            <a:pPr>
              <a:spcBef>
                <a:spcPts val="1200"/>
              </a:spcBef>
              <a:defRPr b="1" sz="1300">
                <a:solidFill>
                  <a:srgbClr val="38BDF8"/>
                </a:solidFill>
              </a:defRPr>
            </a:pPr>
            <a:r>
              <a:t>2. Continuous Learning &amp; Jindal Adaptation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8FAFC"/>
                </a:solidFill>
              </a:rPr>
              <a:t>• Active Learning Loop:</a:t>
            </a:r>
            <a:r>
              <a:rPr sz="950">
                <a:solidFill>
                  <a:srgbClr val="94A3B8"/>
                </a:solidFill>
              </a:rPr>
              <a:t> Borderline predictions (conf 0.40–0.60) flagged for metallurgical review.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8FAFC"/>
                </a:solidFill>
              </a:rPr>
              <a:t>• Domain Transfer Pipeline:</a:t>
            </a:r>
            <a:r>
              <a:rPr sz="950">
                <a:solidFill>
                  <a:srgbClr val="94A3B8"/>
                </a:solidFill>
              </a:rPr>
              <a:t> Pre-configured transfer learning from NEU-DET to Jindal 200/300/400 stainless steel grades.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34D399"/>
                </a:solidFill>
              </a:defRPr>
            </a:pPr>
            <a:r>
              <a:t>3. Projected Business Impact for Jindal Stainless</a:t>
            </a:r>
          </a:p>
          <a:p>
            <a:pPr>
              <a:spcBef>
                <a:spcPts val="13000"/>
              </a:spcBef>
              <a:defRPr b="1" sz="1300">
                <a:solidFill>
                  <a:srgbClr val="60A5FA"/>
                </a:solidFill>
              </a:defRPr>
            </a:pPr>
            <a:r>
              <a:t>4. Roadmap for Next Round Qualification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Phase 1 (Completed):</a:t>
            </a:r>
            <a:r>
              <a:rPr sz="950">
                <a:solidFill>
                  <a:srgbClr val="94A3B8"/>
                </a:solidFill>
              </a:rPr>
              <a:t> Multi-model ensemble, WBF, crop dataset, decision engine, FastAPI backend, SQLite repository, Streamlit HMI demo.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F8FAFC"/>
                </a:solidFill>
              </a:rPr>
              <a:t>• Phase 2 (Next Round):</a:t>
            </a:r>
            <a:r>
              <a:rPr sz="950">
                <a:solidFill>
                  <a:srgbClr val="94A3B8"/>
                </a:solidFill>
              </a:rPr>
              <a:t> Hardware-in-the-loop OPC-UA PLC simulation &amp; fine-tuning on live Jindal plant coil imagery.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011680"/>
            <a:ext cx="23774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60A5FA"/>
                </a:solidFill>
              </a:defRPr>
            </a:pPr>
            <a:r>
              <a:t>₹4.2 Cr+</a:t>
            </a:r>
          </a:p>
          <a:p>
            <a:pPr algn="ctr">
              <a:defRPr sz="750">
                <a:solidFill>
                  <a:srgbClr val="F8FAFC"/>
                </a:solidFill>
              </a:defRPr>
            </a:pPr>
            <a:r>
              <a:t>Annual Scrap &amp; Downgrade Savings /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011680"/>
            <a:ext cx="23774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4D399"/>
                </a:solidFill>
              </a:defRPr>
            </a:pPr>
            <a:r>
              <a:t>99.2%</a:t>
            </a:r>
          </a:p>
          <a:p>
            <a:pPr algn="ctr">
              <a:defRPr sz="750">
                <a:solidFill>
                  <a:srgbClr val="F8FAFC"/>
                </a:solidFill>
              </a:defRPr>
            </a:pPr>
            <a:r>
              <a:t>Defective Coil Escape Prevention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063240"/>
            <a:ext cx="23774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BBF24"/>
                </a:solidFill>
              </a:defRPr>
            </a:pPr>
            <a:r>
              <a:t>&lt; 4.5 Mo</a:t>
            </a:r>
          </a:p>
          <a:p>
            <a:pPr algn="ctr">
              <a:defRPr sz="750">
                <a:solidFill>
                  <a:srgbClr val="F8FAFC"/>
                </a:solidFill>
              </a:defRPr>
            </a:pPr>
            <a:r>
              <a:t>Estimated Capital Payback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063240"/>
            <a:ext cx="23774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100%</a:t>
            </a:r>
          </a:p>
          <a:p>
            <a:pPr algn="ctr">
              <a:defRPr sz="750">
                <a:solidFill>
                  <a:srgbClr val="F8FAFC"/>
                </a:solidFill>
              </a:defRPr>
            </a:pPr>
            <a:r>
              <a:t>Coil Traceability &amp; SQL Database Logging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